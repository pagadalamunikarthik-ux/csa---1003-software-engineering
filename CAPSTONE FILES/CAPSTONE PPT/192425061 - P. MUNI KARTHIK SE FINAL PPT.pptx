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4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9" r:id="rId13"/>
    <p:sldId id="278" r:id="rId14"/>
    <p:sldId id="283" r:id="rId15"/>
    <p:sldId id="285" r:id="rId16"/>
    <p:sldId id="284" r:id="rId17"/>
    <p:sldId id="279" r:id="rId18"/>
    <p:sldId id="280" r:id="rId19"/>
    <p:sldId id="281" r:id="rId20"/>
    <p:sldId id="273" r:id="rId21"/>
    <p:sldId id="282" r:id="rId22"/>
    <p:sldId id="277" r:id="rId23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jdEpsfTCb8ks+sQPE0ZQd+VmJz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65CF2F-8CE0-4C6F-B981-B81CB5ADE3B6}">
  <a:tblStyle styleId="{4465CF2F-8CE0-4C6F-B981-B81CB5ADE3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F1F5"/>
          </a:solidFill>
        </a:fill>
      </a:tcStyle>
    </a:wholeTbl>
    <a:band1H>
      <a:tcTxStyle b="off" i="off"/>
      <a:tcStyle>
        <a:tcBdr/>
        <a:fill>
          <a:solidFill>
            <a:srgbClr val="CEE2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EE2EA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F1F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/>
        <a:fill>
          <a:solidFill>
            <a:srgbClr val="E8F1F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c64e9295e_8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bc64e9295e_8_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bc64e9295e_8_40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c64e9295e_0_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bc64e9295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c64cafd68_0_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g3bc64cafd6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c64cafd68_0_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g3bc64cafd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c64e9295e_0_1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g3bc64e9295e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2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c64e9295e_8_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3bc64e9295e_8_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g3bc64e9295e_8_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3bc64e9295e_8_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g3bc64e9295e_8_6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>
              <a:spcBef>
                <a:spcPts val="0"/>
              </a:spcBef>
              <a:buNone/>
              <a:defRPr/>
            </a:lvl1pPr>
            <a:lvl2pPr lvl="1" indent="0">
              <a:spcBef>
                <a:spcPts val="0"/>
              </a:spcBef>
              <a:buNone/>
              <a:defRPr/>
            </a:lvl2pPr>
            <a:lvl3pPr lvl="2" indent="0">
              <a:spcBef>
                <a:spcPts val="0"/>
              </a:spcBef>
              <a:buNone/>
              <a:defRPr/>
            </a:lvl3pPr>
            <a:lvl4pPr lvl="3" indent="0">
              <a:spcBef>
                <a:spcPts val="0"/>
              </a:spcBef>
              <a:buNone/>
              <a:defRPr/>
            </a:lvl4pPr>
            <a:lvl5pPr lvl="4" indent="0">
              <a:spcBef>
                <a:spcPts val="0"/>
              </a:spcBef>
              <a:buNone/>
              <a:defRPr/>
            </a:lvl5pPr>
            <a:lvl6pPr lvl="5" indent="0">
              <a:spcBef>
                <a:spcPts val="0"/>
              </a:spcBef>
              <a:buNone/>
              <a:defRPr/>
            </a:lvl6pPr>
            <a:lvl7pPr lvl="6" indent="0">
              <a:spcBef>
                <a:spcPts val="0"/>
              </a:spcBef>
              <a:buNone/>
              <a:defRPr/>
            </a:lvl7pPr>
            <a:lvl8pPr lvl="7" indent="0">
              <a:spcBef>
                <a:spcPts val="0"/>
              </a:spcBef>
              <a:buNone/>
              <a:defRPr/>
            </a:lvl8pPr>
            <a:lvl9pPr lvl="8" indent="0">
              <a:spcBef>
                <a:spcPts val="0"/>
              </a:spcBef>
              <a:buNone/>
              <a:defRPr/>
            </a:lvl9pPr>
          </a:lstStyle>
          <a:p>
            <a:pPr marL="38100" lvl="0" indent="-3810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OBJEC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c64e9295e_8_12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3bc64e9295e_8_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bc64e9295e_8_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bc64e9295e_8_12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c64e9295e_8_1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bc64e9295e_8_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g3bc64e9295e_8_17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64e9295e_8_21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3bc64e9295e_8_21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3bc64e9295e_8_2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g3bc64e9295e_8_2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3bc64e9295e_8_21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c64e9295e_8_27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3bc64e9295e_8_27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g3bc64e9295e_8_2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g3bc64e9295e_8_2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3bc64e9295e_8_27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c64e9295e_8_33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bc64e9295e_8_3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bc64e9295e_8_3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g3bc64e9295e_8_3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g3bc64e9295e_8_3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bc64e9295e_8_3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bc64e9295e_8_0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" name="Google Shape;45;g3bc64e9295e_8_0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g3bc64e9295e_8_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g3bc64e9295e_8_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8" name="Google Shape;48;g3bc64e9295e_8_0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lvl="1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lvl="2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lvl="3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lvl="4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lvl="5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lvl="6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lvl="7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lvl="8" indent="0">
              <a:lnSpc>
                <a:spcPct val="103333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c64e9295e_8_40"/>
          <p:cNvSpPr txBox="1">
            <a:spLocks noGrp="1"/>
          </p:cNvSpPr>
          <p:nvPr>
            <p:ph type="ctrTitle"/>
          </p:nvPr>
        </p:nvSpPr>
        <p:spPr>
          <a:xfrm>
            <a:off x="861592" y="2846050"/>
            <a:ext cx="11025863" cy="200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633095" lvl="0" algn="ctr">
              <a:spcBef>
                <a:spcPts val="1070"/>
              </a:spcBef>
              <a:buSzPts val="4000"/>
            </a:pPr>
            <a:r>
              <a:rPr lang="en-US" dirty="0"/>
              <a:t>TEAMORBIT: AN ONLINE SOFTWARE PROJECT  AND TEAM MANAGEMENT SYSTEM</a:t>
            </a:r>
            <a:endParaRPr dirty="0"/>
          </a:p>
        </p:txBody>
      </p:sp>
      <p:pic>
        <p:nvPicPr>
          <p:cNvPr id="89" name="Google Shape;89;g3bc64e9295e_8_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bc64e9295e_8_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bc64e9295e_8_40"/>
          <p:cNvSpPr txBox="1"/>
          <p:nvPr/>
        </p:nvSpPr>
        <p:spPr>
          <a:xfrm>
            <a:off x="3441900" y="335165"/>
            <a:ext cx="5308200" cy="14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8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SIMATS ENGINEERING</a:t>
            </a:r>
            <a:endParaRPr sz="2800" b="1" i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8240" marR="5080" lvl="0" indent="-1146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SAVEETHA INSTITUTE OF MEDICAL AND TECHNICAL SCIENCES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g3bc64e9295e_8_40"/>
          <p:cNvSpPr txBox="1"/>
          <p:nvPr/>
        </p:nvSpPr>
        <p:spPr>
          <a:xfrm>
            <a:off x="7167484" y="4922035"/>
            <a:ext cx="4719971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Y V Satyanarayana Reddy(192472157)</a:t>
            </a:r>
          </a:p>
          <a:p>
            <a:pPr lvl="0" algn="r">
              <a:lnSpc>
                <a:spcPct val="150000"/>
              </a:lnSpc>
            </a:pPr>
            <a:r>
              <a:rPr lang="en-IN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Deva chary(192465041) </a:t>
            </a:r>
          </a:p>
          <a:p>
            <a:pPr lvl="0" algn="r">
              <a:lnSpc>
                <a:spcPct val="150000"/>
              </a:lnSpc>
            </a:pPr>
            <a:r>
              <a:rPr lang="en-IN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.Saikiran(19242528)</a:t>
            </a:r>
          </a:p>
          <a:p>
            <a:pPr lvl="0" algn="r">
              <a:lnSpc>
                <a:spcPct val="150000"/>
              </a:lnSpc>
            </a:pPr>
            <a:r>
              <a:rPr lang="en-IN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 Muni Karthik(192425061) 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g3bc64e9295e_8_40"/>
          <p:cNvSpPr txBox="1"/>
          <p:nvPr/>
        </p:nvSpPr>
        <p:spPr>
          <a:xfrm>
            <a:off x="357352" y="4707094"/>
            <a:ext cx="3034413" cy="1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Supervision :</a:t>
            </a: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T M Usha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bc64e9295e_8_40"/>
          <p:cNvSpPr txBox="1"/>
          <p:nvPr/>
        </p:nvSpPr>
        <p:spPr>
          <a:xfrm>
            <a:off x="9142534" y="4444987"/>
            <a:ext cx="20244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:  </a:t>
            </a:r>
            <a:endParaRPr sz="2000" b="1" dirty="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268EC-1915-0705-8070-2F6DE0E27F3E}"/>
              </a:ext>
            </a:extLst>
          </p:cNvPr>
          <p:cNvSpPr txBox="1"/>
          <p:nvPr/>
        </p:nvSpPr>
        <p:spPr>
          <a:xfrm>
            <a:off x="357352" y="1987132"/>
            <a:ext cx="12034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CSA1003 - SOFTWARE ENGINEERING</a:t>
            </a:r>
            <a:endParaRPr lang="en-IN"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>
            <a:spLocks noGrp="1"/>
          </p:cNvSpPr>
          <p:nvPr>
            <p:ph type="title"/>
          </p:nvPr>
        </p:nvSpPr>
        <p:spPr>
          <a:xfrm>
            <a:off x="1465035" y="232445"/>
            <a:ext cx="78315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accent4"/>
                </a:solidFill>
              </a:rPr>
              <a:t>ABSTRACT</a:t>
            </a:r>
            <a:endParaRPr>
              <a:solidFill>
                <a:schemeClr val="accent4"/>
              </a:solidFill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D76FCC-5347-120F-0A54-80E221F69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8" y="1575327"/>
            <a:ext cx="10895975" cy="4922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TeamOrbit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online software project and team management system developed to centralize project activities.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manages users, roles, teams, projects, tasks, schedules, and project progress.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role-based access for Admin, Manager, and Team Member users.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Managers can create and assign tasks with priorities and deadlines.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Team members can update task status based on their work progress.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is supported by tools such as GitHub, Jira, Figma, Confluence,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1465035" y="232445"/>
            <a:ext cx="83649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accent4"/>
                </a:solidFill>
              </a:rPr>
              <a:t>INTRODUCTION</a:t>
            </a:r>
            <a:endParaRPr>
              <a:solidFill>
                <a:schemeClr val="accent4"/>
              </a:solidFill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581B30-C2DD-D75E-C993-53B6023E7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89" y="1935608"/>
            <a:ext cx="11368421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Software projects require effective coordination of people, tasks, schedules, and project information.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project management can make task tracking and progress monitoring difficult.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TeamOrbit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centralized web-based platform for managing software project activities.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follows an Agile-oriented approach for planning, development, testing, documentation, and deployment.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1465035" y="232445"/>
            <a:ext cx="83649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F35944-CE9C-B6DE-E9FC-E3FA5CEA8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477" y="1344770"/>
            <a:ext cx="9201285" cy="4922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 centralized online platform for software project management.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 secure user registration and login.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role-based access for Admin, Manager, and Team Member users.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 team and project management capabilities.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 task creation, assignment, scheduling, and status tracking.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Calculate and display project progress.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 Agile planning, documentation, testing, and deployment activities.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>
            <a:spLocks noGrp="1"/>
          </p:cNvSpPr>
          <p:nvPr>
            <p:ph type="title"/>
          </p:nvPr>
        </p:nvSpPr>
        <p:spPr>
          <a:xfrm>
            <a:off x="2347473" y="232445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accent4"/>
                </a:solidFill>
              </a:rPr>
              <a:t>PROBLEM STATEMENT</a:t>
            </a:r>
            <a:endParaRPr>
              <a:solidFill>
                <a:schemeClr val="accent4"/>
              </a:solidFill>
            </a:endParaRPr>
          </a:p>
        </p:txBody>
      </p:sp>
      <p:pic>
        <p:nvPicPr>
          <p:cNvPr id="130" name="Google Shape;13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5BC5B1-029D-76DA-5729-F5196AFF8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477" y="1259045"/>
            <a:ext cx="10584286" cy="4922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Managing software projects manually can make task allocation and tracking difficult.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Project information may become scattered across different methods of communication and documentation.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Tracking task status and overall project progress can be time-consuming.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 roles and responsibilities need controlled access.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Managers require better visibility into team workload and project progress.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centralized online system is required to organize project and team activities efficiently.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c64e9295e_0_22"/>
          <p:cNvSpPr txBox="1">
            <a:spLocks noGrp="1"/>
          </p:cNvSpPr>
          <p:nvPr>
            <p:ph type="title"/>
          </p:nvPr>
        </p:nvSpPr>
        <p:spPr>
          <a:xfrm>
            <a:off x="1492467" y="624604"/>
            <a:ext cx="89469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2074545" marR="5080" lvl="0" indent="-1661160" algn="ctr" rtl="0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accent4"/>
                </a:solidFill>
              </a:rPr>
              <a:t>PROPOSED SYSTEM</a:t>
            </a:r>
            <a:endParaRPr>
              <a:solidFill>
                <a:schemeClr val="accent4"/>
              </a:solidFill>
            </a:endParaRPr>
          </a:p>
        </p:txBody>
      </p:sp>
      <p:pic>
        <p:nvPicPr>
          <p:cNvPr id="139" name="Google Shape;139;g3bc64e9295e_0_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bc64e9295e_0_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bc64e9295e_0_22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479227-7404-1F53-A972-B1676A382BE2}"/>
              </a:ext>
            </a:extLst>
          </p:cNvPr>
          <p:cNvSpPr txBox="1"/>
          <p:nvPr/>
        </p:nvSpPr>
        <p:spPr>
          <a:xfrm>
            <a:off x="1251124" y="1798527"/>
            <a:ext cx="9429586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Orbit Proposed Solution</a:t>
            </a:r>
          </a:p>
          <a:p>
            <a:pPr algn="just">
              <a:lnSpc>
                <a:spcPct val="15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Centralized web-based project management platform.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access the system according to their assigned roles.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Managers manage teams, projects, and tasks.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 members view assigned tasks and update task status.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completion contributes to overall project progress.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information is maintained in a centralized database.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a structured workflow from project creation to task completion.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F5CDC0-6CB3-3B33-B040-D48F18FF4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2052" y="292879"/>
            <a:ext cx="8842593" cy="61932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1751231" y="215125"/>
            <a:ext cx="8763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 1 -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PLANNING &amp; SRS</a:t>
            </a:r>
            <a:br>
              <a:rPr lang="en-US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sz="2800" b="1" i="0" u="none" strike="noStrike" cap="none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CE2AD-E45D-1EE0-0A2C-8B31B74E5908}"/>
              </a:ext>
            </a:extLst>
          </p:cNvPr>
          <p:cNvSpPr txBox="1"/>
          <p:nvPr/>
        </p:nvSpPr>
        <p:spPr>
          <a:xfrm>
            <a:off x="357352" y="1789123"/>
            <a:ext cx="6014873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the requirements of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TeamOrbit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the project scope, objectives, and expected functionality.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the needs of Admin, Manager, and Team Member users.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functional and non-functional requirements.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Documents the system requirements through the Software Requirements Specification.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48883-A13C-8353-B58F-955652EA470B}"/>
              </a:ext>
            </a:extLst>
          </p:cNvPr>
          <p:cNvSpPr txBox="1"/>
          <p:nvPr/>
        </p:nvSpPr>
        <p:spPr>
          <a:xfrm>
            <a:off x="7029946" y="1794674"/>
            <a:ext cx="5162054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identification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User-role identification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and non-functional requirement definition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SRS preparation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bc64cafd68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bc64cafd68_0_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bc64cafd68_0_8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81" name="Google Shape;181;g3bc64cafd68_0_8"/>
          <p:cNvSpPr txBox="1"/>
          <p:nvPr/>
        </p:nvSpPr>
        <p:spPr>
          <a:xfrm>
            <a:off x="1492467" y="591253"/>
            <a:ext cx="8977312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 2 -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USER, TEAM &amp; ROLE MANAGEMENT</a:t>
            </a:r>
            <a:br>
              <a:rPr lang="en-US" sz="28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</a:br>
            <a:endParaRPr sz="2800" b="1" i="0" u="none" strike="noStrike" cap="none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B767D-34A5-85EE-9F3C-269BAA7D8C14}"/>
              </a:ext>
            </a:extLst>
          </p:cNvPr>
          <p:cNvSpPr txBox="1"/>
          <p:nvPr/>
        </p:nvSpPr>
        <p:spPr>
          <a:xfrm>
            <a:off x="357352" y="2150997"/>
            <a:ext cx="6143461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users and their access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TeamOrbit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Admin, Manager, and Team Member roles.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role-based access to system functionality.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team creation and team-member management.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users can perform operations according to their assigned roles.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FFD1A-9618-7172-AFBF-9CF9BCC56A89}"/>
              </a:ext>
            </a:extLst>
          </p:cNvPr>
          <p:cNvSpPr txBox="1"/>
          <p:nvPr/>
        </p:nvSpPr>
        <p:spPr>
          <a:xfrm>
            <a:off x="7786687" y="2200274"/>
            <a:ext cx="49720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creation and management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creation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Team-member management</a:t>
            </a:r>
          </a:p>
          <a:p>
            <a:endParaRPr lang="en-I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g3bc64cafd68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bc64cafd68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bc64cafd68_0_0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1" name="Google Shape;201;g3bc64cafd68_0_0"/>
          <p:cNvSpPr txBox="1"/>
          <p:nvPr/>
        </p:nvSpPr>
        <p:spPr>
          <a:xfrm>
            <a:off x="1600200" y="304800"/>
            <a:ext cx="8763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3 - </a:t>
            </a:r>
            <a:r>
              <a:rPr lang="en-US" sz="28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ALLOCATION &amp; SCHEDULING</a:t>
            </a:r>
            <a:b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 b="0" i="0" u="none" strike="noStrike" cap="none" dirty="0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bc64cafd68_0_0"/>
          <p:cNvSpPr txBox="1">
            <a:spLocks noGrp="1"/>
          </p:cNvSpPr>
          <p:nvPr>
            <p:ph type="sldNum" idx="12"/>
          </p:nvPr>
        </p:nvSpPr>
        <p:spPr>
          <a:xfrm>
            <a:off x="11662844" y="6373185"/>
            <a:ext cx="1305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6276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143"/>
              <a:buNone/>
            </a:pPr>
            <a:fld id="{00000000-1234-1234-1234-123412341234}" type="slidenum">
              <a:rPr lang="en-US" sz="1142"/>
              <a:t>10</a:t>
            </a:fld>
            <a:endParaRPr sz="1142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2869F-6D04-8BB4-EFDB-B1CDB6DA2090}"/>
              </a:ext>
            </a:extLst>
          </p:cNvPr>
          <p:cNvSpPr txBox="1"/>
          <p:nvPr/>
        </p:nvSpPr>
        <p:spPr>
          <a:xfrm>
            <a:off x="357352" y="2025506"/>
            <a:ext cx="6093618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task management within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TeamOrbit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Managers can create and assign tasks to team members.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Tasks can be assigned priorities and deadlines.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Team members can update task status.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status supports the project workflow.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E1D49-3AEF-4F31-2886-7954CA6F1BBB}"/>
              </a:ext>
            </a:extLst>
          </p:cNvPr>
          <p:cNvSpPr txBox="1"/>
          <p:nvPr/>
        </p:nvSpPr>
        <p:spPr>
          <a:xfrm>
            <a:off x="7565904" y="2025506"/>
            <a:ext cx="4096940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creation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assignment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setting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scheduling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status updating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3bc64e9295e_0_1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bc64e9295e_0_1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bc64e9295e_0_11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26" name="Google Shape;226;g3bc64e9295e_0_113"/>
          <p:cNvSpPr txBox="1"/>
          <p:nvPr/>
        </p:nvSpPr>
        <p:spPr>
          <a:xfrm>
            <a:off x="1600200" y="304800"/>
            <a:ext cx="8763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4 -AGILE TESTING, DEPLOYMENT &amp; REVIEW</a:t>
            </a:r>
            <a:endParaRPr sz="2800" b="1" i="0" u="none" strike="noStrike" cap="none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B8F56C-4340-BE70-1587-41AA2A38981B}"/>
              </a:ext>
            </a:extLst>
          </p:cNvPr>
          <p:cNvSpPr txBox="1"/>
          <p:nvPr/>
        </p:nvSpPr>
        <p:spPr>
          <a:xfrm>
            <a:off x="489347" y="2185869"/>
            <a:ext cx="7097316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Tests the implemented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TeamOrbit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manual functional testing of individual system features.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Verifies integration between related system functions.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and corrects implementation errors.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Verifies deployment of the application.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Reviews usability and operational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deployment.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DB1BC-CAE6-0996-1ADD-687AC6140011}"/>
              </a:ext>
            </a:extLst>
          </p:cNvPr>
          <p:cNvSpPr txBox="1"/>
          <p:nvPr/>
        </p:nvSpPr>
        <p:spPr>
          <a:xfrm>
            <a:off x="8003381" y="2185869"/>
            <a:ext cx="4719638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testing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identification and correction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verification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4457-6C24-EFFB-25B5-FE640407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5" y="250733"/>
            <a:ext cx="7361555" cy="430887"/>
          </a:xfrm>
        </p:spPr>
        <p:txBody>
          <a:bodyPr/>
          <a:lstStyle/>
          <a:p>
            <a:pPr algn="ctr"/>
            <a:r>
              <a:rPr lang="en-IN" sz="2800" dirty="0"/>
              <a:t>TOOLS USED</a:t>
            </a:r>
          </a:p>
        </p:txBody>
      </p:sp>
      <p:pic>
        <p:nvPicPr>
          <p:cNvPr id="3" name="Google Shape;222;g3bc64e9295e_0_113">
            <a:extLst>
              <a:ext uri="{FF2B5EF4-FFF2-40B4-BE49-F238E27FC236}">
                <a16:creationId xmlns:a16="http://schemas.microsoft.com/office/drawing/2014/main" id="{7FD1979D-FF05-D786-EC7B-7A4D3332ED1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23;g3bc64e9295e_0_113">
            <a:extLst>
              <a:ext uri="{FF2B5EF4-FFF2-40B4-BE49-F238E27FC236}">
                <a16:creationId xmlns:a16="http://schemas.microsoft.com/office/drawing/2014/main" id="{6F97AEF2-846F-0DA9-7A31-C42E376418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003D006-57AB-AA4D-EEC2-F8A6A2F81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470720"/>
              </p:ext>
            </p:extLst>
          </p:nvPr>
        </p:nvGraphicFramePr>
        <p:xfrm>
          <a:off x="1985962" y="2471111"/>
          <a:ext cx="8802688" cy="39507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401344">
                  <a:extLst>
                    <a:ext uri="{9D8B030D-6E8A-4147-A177-3AD203B41FA5}">
                      <a16:colId xmlns:a16="http://schemas.microsoft.com/office/drawing/2014/main" val="3726841137"/>
                    </a:ext>
                  </a:extLst>
                </a:gridCol>
                <a:gridCol w="4401344">
                  <a:extLst>
                    <a:ext uri="{9D8B030D-6E8A-4147-A177-3AD203B41FA5}">
                      <a16:colId xmlns:a16="http://schemas.microsoft.com/office/drawing/2014/main" val="2911833580"/>
                    </a:ext>
                  </a:extLst>
                </a:gridCol>
              </a:tblGrid>
              <a:tr h="3570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4605460"/>
                  </a:ext>
                </a:extLst>
              </a:tr>
              <a:tr h="3570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/ Flask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application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509701"/>
                  </a:ext>
                </a:extLst>
              </a:tr>
              <a:tr h="3570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SQLAlchemy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interaction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627957"/>
                  </a:ext>
                </a:extLst>
              </a:tr>
              <a:tr h="3570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code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6102010"/>
                  </a:ext>
                </a:extLst>
              </a:tr>
              <a:tr h="3570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Figma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UI/UX design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694128"/>
                  </a:ext>
                </a:extLst>
              </a:tr>
              <a:tr h="3570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Agile project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284674"/>
                  </a:ext>
                </a:extLst>
              </a:tr>
              <a:tr h="3570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Confluence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documentation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3789182"/>
                  </a:ext>
                </a:extLst>
              </a:tr>
              <a:tr h="3570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Vercel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604795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089CEE35-E9E1-E81D-58DE-E33EA4301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012" y="1618223"/>
            <a:ext cx="397668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Project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364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57BBBC-1C15-4B71-A045-E4FEBE474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9" y="641067"/>
            <a:ext cx="3932864" cy="25599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7882CA-05A6-3148-721B-0B5A1BA9C392}"/>
              </a:ext>
            </a:extLst>
          </p:cNvPr>
          <p:cNvSpPr txBox="1"/>
          <p:nvPr/>
        </p:nvSpPr>
        <p:spPr>
          <a:xfrm>
            <a:off x="-551738" y="3321248"/>
            <a:ext cx="6093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– Source Code Repository Evidence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75E482-0983-F8B9-5934-3781178E9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698" y="526105"/>
            <a:ext cx="5366056" cy="24962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FBBA216-0211-D0DE-5882-9B24E9C35D84}"/>
              </a:ext>
            </a:extLst>
          </p:cNvPr>
          <p:cNvSpPr txBox="1"/>
          <p:nvPr/>
        </p:nvSpPr>
        <p:spPr>
          <a:xfrm>
            <a:off x="5756192" y="3275111"/>
            <a:ext cx="6265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 Kanban Board activity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A0459B-C50E-1179-BCDC-DF8E23970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937" y="3880411"/>
            <a:ext cx="5286375" cy="24514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291B1E-A8DA-5B47-9DAF-BB069629FFC9}"/>
              </a:ext>
            </a:extLst>
          </p:cNvPr>
          <p:cNvSpPr txBox="1"/>
          <p:nvPr/>
        </p:nvSpPr>
        <p:spPr>
          <a:xfrm>
            <a:off x="2909888" y="6429392"/>
            <a:ext cx="637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Figma_TeamOrbit_Dashboard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57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02140F-289C-C052-1BD7-30E2BD07E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00" y="1878806"/>
            <a:ext cx="5067313" cy="37218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F6777E-902B-A85F-96A9-2716D84AD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312" y="1648652"/>
            <a:ext cx="5064919" cy="3852035"/>
          </a:xfrm>
          <a:prstGeom prst="rect">
            <a:avLst/>
          </a:prstGeom>
        </p:spPr>
      </p:pic>
      <p:pic>
        <p:nvPicPr>
          <p:cNvPr id="8" name="Google Shape;222;g3bc64e9295e_0_113">
            <a:extLst>
              <a:ext uri="{FF2B5EF4-FFF2-40B4-BE49-F238E27FC236}">
                <a16:creationId xmlns:a16="http://schemas.microsoft.com/office/drawing/2014/main" id="{51BF6700-F492-8C6B-9DBD-F6311C68BAC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352" y="191626"/>
            <a:ext cx="828511" cy="936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23;g3bc64e9295e_0_113">
            <a:extLst>
              <a:ext uri="{FF2B5EF4-FFF2-40B4-BE49-F238E27FC236}">
                <a16:creationId xmlns:a16="http://schemas.microsoft.com/office/drawing/2014/main" id="{6B905019-EC38-1F22-F836-BEC31F30CBD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14231" y="191626"/>
            <a:ext cx="1187232" cy="9367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316F54-AE5F-8983-16C1-DAAC8619E36C}"/>
              </a:ext>
            </a:extLst>
          </p:cNvPr>
          <p:cNvSpPr txBox="1"/>
          <p:nvPr/>
        </p:nvSpPr>
        <p:spPr>
          <a:xfrm>
            <a:off x="3150394" y="255920"/>
            <a:ext cx="5886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OUTPUT </a:t>
            </a:r>
          </a:p>
        </p:txBody>
      </p:sp>
    </p:spTree>
    <p:extLst>
      <p:ext uri="{BB962C8B-B14F-4D97-AF65-F5344CB8AC3E}">
        <p14:creationId xmlns:p14="http://schemas.microsoft.com/office/powerpoint/2010/main" val="3302474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F51A163-CE29-2447-AF2F-59A4AB640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128366"/>
            <a:ext cx="5064920" cy="29541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70A6F3-A8A0-0D33-FC20-3AF01CA24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700" y="4214179"/>
            <a:ext cx="4533126" cy="2514954"/>
          </a:xfrm>
          <a:prstGeom prst="rect">
            <a:avLst/>
          </a:prstGeom>
        </p:spPr>
      </p:pic>
      <p:pic>
        <p:nvPicPr>
          <p:cNvPr id="11" name="Google Shape;222;g3bc64e9295e_0_113">
            <a:extLst>
              <a:ext uri="{FF2B5EF4-FFF2-40B4-BE49-F238E27FC236}">
                <a16:creationId xmlns:a16="http://schemas.microsoft.com/office/drawing/2014/main" id="{8B1CFE54-E699-1499-D5B9-4A39A7A917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352" y="191626"/>
            <a:ext cx="828511" cy="936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23;g3bc64e9295e_0_113">
            <a:extLst>
              <a:ext uri="{FF2B5EF4-FFF2-40B4-BE49-F238E27FC236}">
                <a16:creationId xmlns:a16="http://schemas.microsoft.com/office/drawing/2014/main" id="{4644D611-73CE-D5B7-5B59-912E6CEF49A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14231" y="191626"/>
            <a:ext cx="1187232" cy="936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5B0B2E-6B6C-D3D4-3536-969C57CF84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9450" y="996679"/>
            <a:ext cx="4533126" cy="30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98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B1409-4641-28AD-143D-168C1DAE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867" y="381179"/>
            <a:ext cx="5054595" cy="430887"/>
          </a:xfrm>
        </p:spPr>
        <p:txBody>
          <a:bodyPr/>
          <a:lstStyle/>
          <a:p>
            <a:pPr algn="ctr"/>
            <a:r>
              <a:rPr lang="en-IN" sz="2800" dirty="0"/>
              <a:t>IMPLEMENTATION</a:t>
            </a:r>
          </a:p>
        </p:txBody>
      </p:sp>
      <p:pic>
        <p:nvPicPr>
          <p:cNvPr id="3" name="Google Shape;222;g3bc64e9295e_0_113">
            <a:extLst>
              <a:ext uri="{FF2B5EF4-FFF2-40B4-BE49-F238E27FC236}">
                <a16:creationId xmlns:a16="http://schemas.microsoft.com/office/drawing/2014/main" id="{62374EF8-393F-7B2C-D240-8F161361E1C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23;g3bc64e9295e_0_113">
            <a:extLst>
              <a:ext uri="{FF2B5EF4-FFF2-40B4-BE49-F238E27FC236}">
                <a16:creationId xmlns:a16="http://schemas.microsoft.com/office/drawing/2014/main" id="{BEF2BB14-90BB-4958-79CC-24309041E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2F46DE-AD71-718E-99E6-CDD660A07CD2}"/>
              </a:ext>
            </a:extLst>
          </p:cNvPr>
          <p:cNvSpPr txBox="1"/>
          <p:nvPr/>
        </p:nvSpPr>
        <p:spPr>
          <a:xfrm>
            <a:off x="478632" y="1990014"/>
            <a:ext cx="6193630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Web-based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TeamOrbit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Role-based user access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Database-backed project information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and project management workflow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deployment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A752A-7D8C-2379-913B-419BF5C51FCE}"/>
              </a:ext>
            </a:extLst>
          </p:cNvPr>
          <p:cNvSpPr txBox="1"/>
          <p:nvPr/>
        </p:nvSpPr>
        <p:spPr>
          <a:xfrm>
            <a:off x="7045327" y="2315583"/>
            <a:ext cx="6193630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login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creation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assignment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status update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progress verification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integration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 verification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Usability 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D0047B-B9C6-5C4A-22F6-DD5DA9E7BBD1}"/>
              </a:ext>
            </a:extLst>
          </p:cNvPr>
          <p:cNvSpPr txBox="1"/>
          <p:nvPr/>
        </p:nvSpPr>
        <p:spPr>
          <a:xfrm>
            <a:off x="3891975" y="873301"/>
            <a:ext cx="4066163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RESULTS</a:t>
            </a:r>
          </a:p>
        </p:txBody>
      </p:sp>
    </p:spTree>
    <p:extLst>
      <p:ext uri="{BB962C8B-B14F-4D97-AF65-F5344CB8AC3E}">
        <p14:creationId xmlns:p14="http://schemas.microsoft.com/office/powerpoint/2010/main" val="3704503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E536-4028-0631-28DE-041D5E01D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571" y="307883"/>
            <a:ext cx="2582858" cy="430887"/>
          </a:xfrm>
        </p:spPr>
        <p:txBody>
          <a:bodyPr/>
          <a:lstStyle/>
          <a:p>
            <a:pPr algn="ctr"/>
            <a:r>
              <a:rPr lang="en-IN" sz="2800" dirty="0"/>
              <a:t>RESULTS </a:t>
            </a:r>
          </a:p>
        </p:txBody>
      </p:sp>
      <p:pic>
        <p:nvPicPr>
          <p:cNvPr id="3" name="Google Shape;222;g3bc64e9295e_0_113">
            <a:extLst>
              <a:ext uri="{FF2B5EF4-FFF2-40B4-BE49-F238E27FC236}">
                <a16:creationId xmlns:a16="http://schemas.microsoft.com/office/drawing/2014/main" id="{7590C8C4-070D-7646-E174-2B1D179AAEB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23;g3bc64e9295e_0_113">
            <a:extLst>
              <a:ext uri="{FF2B5EF4-FFF2-40B4-BE49-F238E27FC236}">
                <a16:creationId xmlns:a16="http://schemas.microsoft.com/office/drawing/2014/main" id="{27C4E2C0-E50B-4B27-D844-440AC78F6C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0A8803E-0628-7FE1-8F0B-B9CD2EDB0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521" y="1018235"/>
            <a:ext cx="7658100" cy="534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workflows were tested successfully. 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 and role management functions operate as intended. 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Task creation and assignment workflows were verified. 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Task status changes are reflected in project progress. 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Deployment was verified for online access. 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centralized management of project activities. </a:t>
            </a:r>
          </a:p>
        </p:txBody>
      </p:sp>
    </p:spTree>
    <p:extLst>
      <p:ext uri="{BB962C8B-B14F-4D97-AF65-F5344CB8AC3E}">
        <p14:creationId xmlns:p14="http://schemas.microsoft.com/office/powerpoint/2010/main" val="3408243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84D0-C1A3-E106-C084-4E426C3BF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5" y="250733"/>
            <a:ext cx="7361555" cy="430887"/>
          </a:xfrm>
        </p:spPr>
        <p:txBody>
          <a:bodyPr/>
          <a:lstStyle/>
          <a:p>
            <a:pPr algn="ctr"/>
            <a:r>
              <a:rPr lang="en-IN" sz="2800" dirty="0"/>
              <a:t>CHALLENGES &amp; 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1024C-52E5-4057-92DF-D1E76BD7BC7E}"/>
              </a:ext>
            </a:extLst>
          </p:cNvPr>
          <p:cNvSpPr txBox="1"/>
          <p:nvPr/>
        </p:nvSpPr>
        <p:spPr>
          <a:xfrm>
            <a:off x="824896" y="1551063"/>
            <a:ext cx="9433529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Coordinating different project management activities.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role-based access correctly.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Managing relationships between users, teams, projects, and tasks.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Ensuring task status changes correctly affect project progress.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and correcting implementation errors during testing. 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primarily for academic/project-level use.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production performance and load testing were not performed.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automated testing can be considered for future enhancement.</a:t>
            </a:r>
          </a:p>
        </p:txBody>
      </p:sp>
      <p:pic>
        <p:nvPicPr>
          <p:cNvPr id="5" name="Google Shape;222;g3bc64e9295e_0_113">
            <a:extLst>
              <a:ext uri="{FF2B5EF4-FFF2-40B4-BE49-F238E27FC236}">
                <a16:creationId xmlns:a16="http://schemas.microsoft.com/office/drawing/2014/main" id="{9BA85E97-CB20-0ED4-1367-771DCA51A78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23;g3bc64e9295e_0_113">
            <a:extLst>
              <a:ext uri="{FF2B5EF4-FFF2-40B4-BE49-F238E27FC236}">
                <a16:creationId xmlns:a16="http://schemas.microsoft.com/office/drawing/2014/main" id="{8DF99877-C294-8E95-9EC4-49DA0C8FAA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0774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 txBox="1">
            <a:spLocks noGrp="1"/>
          </p:cNvSpPr>
          <p:nvPr>
            <p:ph type="title"/>
          </p:nvPr>
        </p:nvSpPr>
        <p:spPr>
          <a:xfrm>
            <a:off x="2243138" y="191626"/>
            <a:ext cx="7361700" cy="749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2984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sz="2800" dirty="0">
                <a:solidFill>
                  <a:schemeClr val="tx1"/>
                </a:solidFill>
              </a:rPr>
              <a:t>CONCLUSION &amp; FUTURE WORK</a:t>
            </a:r>
            <a:endParaRPr sz="2800" dirty="0">
              <a:solidFill>
                <a:schemeClr val="tx1"/>
              </a:solidFill>
            </a:endParaRPr>
          </a:p>
        </p:txBody>
      </p:sp>
      <p:pic>
        <p:nvPicPr>
          <p:cNvPr id="270" name="Google Shape;27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AE210-56A3-38E8-A8FD-215C0CFDEAF0}"/>
              </a:ext>
            </a:extLst>
          </p:cNvPr>
          <p:cNvSpPr txBox="1"/>
          <p:nvPr/>
        </p:nvSpPr>
        <p:spPr>
          <a:xfrm>
            <a:off x="682804" y="1742689"/>
            <a:ext cx="9661345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TeamOrbit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centralized platform for software project and team management.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integrates user, team, project, task, scheduling, and progress-management functions.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Role-based access supports controlled system usage.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tracking and progress monitoring improve project visibility.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 and deployment activities verified the implemented system workflows. 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unit and integration testing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performance and load testing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Additional project-management capabilities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Further improvements to usability and scalability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79E4B-0911-2FCF-E678-31ED0702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905" y="250733"/>
            <a:ext cx="7361555" cy="430887"/>
          </a:xfrm>
        </p:spPr>
        <p:txBody>
          <a:bodyPr/>
          <a:lstStyle/>
          <a:p>
            <a:pPr algn="ctr"/>
            <a:r>
              <a:rPr lang="en-IN" sz="2800" dirty="0"/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DF71E-9B44-ED9C-5ADE-570EE694AFF0}"/>
              </a:ext>
            </a:extLst>
          </p:cNvPr>
          <p:cNvSpPr txBox="1"/>
          <p:nvPr/>
        </p:nvSpPr>
        <p:spPr>
          <a:xfrm>
            <a:off x="671513" y="1604397"/>
            <a:ext cx="1108710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Beck et al.,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“Manifesto for Agile Software Development,”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Agile Alliance.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S. Pressman and B. R. Maxim,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Engineering: A Practitioner’s Approach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8th ed., McGraw-Hill.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Sommerville,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10th ed., Pearson.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Documentation, Pallets Projects.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Flask-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Documentation.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 Documentation.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Confluence Documentation.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Figma Documentation. 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Documentation. </a:t>
            </a:r>
          </a:p>
        </p:txBody>
      </p:sp>
      <p:pic>
        <p:nvPicPr>
          <p:cNvPr id="5" name="Google Shape;288;p15">
            <a:extLst>
              <a:ext uri="{FF2B5EF4-FFF2-40B4-BE49-F238E27FC236}">
                <a16:creationId xmlns:a16="http://schemas.microsoft.com/office/drawing/2014/main" id="{09F8F358-C28B-8902-1906-E8E7C735DA4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89;p15">
            <a:extLst>
              <a:ext uri="{FF2B5EF4-FFF2-40B4-BE49-F238E27FC236}">
                <a16:creationId xmlns:a16="http://schemas.microsoft.com/office/drawing/2014/main" id="{22DC2A67-58A8-CDCB-7CD8-3798B1749B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1717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62286" y="393171"/>
            <a:ext cx="1520112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501648"/>
            <a:ext cx="1135115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7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2476500" y="2828835"/>
            <a:ext cx="7239000" cy="1200329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140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1169</Words>
  <Application>Microsoft Office PowerPoint</Application>
  <PresentationFormat>Widescreen</PresentationFormat>
  <Paragraphs>202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Times New Roman</vt:lpstr>
      <vt:lpstr>Calibri</vt:lpstr>
      <vt:lpstr>Arial</vt:lpstr>
      <vt:lpstr>Office Theme</vt:lpstr>
      <vt:lpstr>Office Theme</vt:lpstr>
      <vt:lpstr>TEAMORBIT: AN ONLINE SOFTWARE PROJECT  AND TEAM MANAGEMENT SYSTEM</vt:lpstr>
      <vt:lpstr>ABSTRACT</vt:lpstr>
      <vt:lpstr>INTRODUCTION</vt:lpstr>
      <vt:lpstr>OBJECTIVES</vt:lpstr>
      <vt:lpstr>PROBLEM STATEMENT</vt:lpstr>
      <vt:lpstr>PROPOSED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TOOLS USED</vt:lpstr>
      <vt:lpstr>PowerPoint Presentation</vt:lpstr>
      <vt:lpstr>PowerPoint Presentation</vt:lpstr>
      <vt:lpstr>PowerPoint Presentation</vt:lpstr>
      <vt:lpstr>IMPLEMENTATION</vt:lpstr>
      <vt:lpstr>RESULTS </vt:lpstr>
      <vt:lpstr>CHALLENGES &amp; LIMITATIONS</vt:lpstr>
      <vt:lpstr>CONCLUSION &amp; FUTURE WORK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Rohan V</dc:creator>
  <cp:lastModifiedBy>SAI NANDINI CHENNAM</cp:lastModifiedBy>
  <cp:revision>3</cp:revision>
  <dcterms:created xsi:type="dcterms:W3CDTF">2025-11-14T08:39:07Z</dcterms:created>
  <dcterms:modified xsi:type="dcterms:W3CDTF">2026-09-03T17:15:02Z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2025-11-14T00:00:00Z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2025-11-14T00:00:00Z</vt:filetime>
  </property>
</Properties>
</file>